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61" r:id="rId3"/>
    <p:sldId id="264" r:id="rId4"/>
    <p:sldId id="266" r:id="rId5"/>
    <p:sldId id="318" r:id="rId6"/>
    <p:sldId id="274" r:id="rId7"/>
    <p:sldId id="286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EEEEE"/>
    <a:srgbClr val="286FE5"/>
    <a:srgbClr val="8C8C8C"/>
    <a:srgbClr val="A5A5A5"/>
    <a:srgbClr val="3E7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16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0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68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03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4" name="Text 0"/>
          <p:cNvSpPr/>
          <p:nvPr/>
        </p:nvSpPr>
        <p:spPr>
          <a:xfrm>
            <a:off x="10226804" y="3323566"/>
            <a:ext cx="7896225" cy="484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ИНДИВИДУАЛЬНЫЙ ПРОЕКТ ПО ТЕМЕ «ПРОГРАММА ПО ПРОВЕРКЕ ПАРОЛЯ»</a:t>
            </a:r>
          </a:p>
          <a:p>
            <a:pPr marL="0" indent="0" algn="ctr">
              <a:buNone/>
            </a:pPr>
            <a:endParaRPr lang="ru-RU" sz="3000" b="1" dirty="0">
              <a:latin typeface="+mj-lt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ru-RU" sz="3000" b="1" dirty="0"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ВЫПОЛНИЛ: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СТУДЕНТ 2 КУРСА ГРУППЫ ИБ-41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СЕЛИВАНОВ СЕРГЕЙ СЕРГЕЕВИЧ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ПРЕПОДАВАТЕЛЬ:</a:t>
            </a:r>
          </a:p>
          <a:p>
            <a:pPr marL="0" indent="0">
              <a:buNone/>
            </a:pPr>
            <a:r>
              <a:rPr lang="ru-RU" sz="3000" b="1" dirty="0">
                <a:latin typeface="+mj-lt"/>
                <a:cs typeface="Arial" panose="020B0604020202020204" pitchFamily="34" charset="0"/>
              </a:rPr>
              <a:t>ЛИПАТНИКОВА НАДЕЖДА МИХАЙЛОВНА</a:t>
            </a:r>
            <a:br>
              <a:rPr lang="ru-RU" sz="3200" b="1" dirty="0">
                <a:latin typeface="+mj-lt"/>
                <a:cs typeface="Arial" panose="020B0604020202020204" pitchFamily="34" charset="0"/>
              </a:rPr>
            </a:br>
            <a:r>
              <a:rPr lang="ru-RU" sz="3200" b="1" dirty="0">
                <a:latin typeface="+mj-lt"/>
                <a:cs typeface="Arial" panose="020B0604020202020204" pitchFamily="34" charset="0"/>
              </a:rPr>
              <a:t> </a:t>
            </a:r>
            <a:endParaRPr lang="en-US" sz="32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FA5DE-6D72-EE95-AE32-AC4BDC29210E}"/>
              </a:ext>
            </a:extLst>
          </p:cNvPr>
          <p:cNvSpPr txBox="1"/>
          <p:nvPr/>
        </p:nvSpPr>
        <p:spPr>
          <a:xfrm>
            <a:off x="7060884" y="9456003"/>
            <a:ext cx="28824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Долгопрудный, 2026</a:t>
            </a:r>
            <a:endParaRPr lang="ru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US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6FC98A-95B4-4715-A79C-A4DCBECB3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1188720"/>
            <a:ext cx="6784848" cy="6784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багетная рамка 11">
            <a:extLst>
              <a:ext uri="{FF2B5EF4-FFF2-40B4-BE49-F238E27FC236}">
                <a16:creationId xmlns:a16="http://schemas.microsoft.com/office/drawing/2014/main" id="{D365B7A5-E92F-418F-B58D-72F3C821B3DF}"/>
              </a:ext>
            </a:extLst>
          </p:cNvPr>
          <p:cNvSpPr/>
          <p:nvPr/>
        </p:nvSpPr>
        <p:spPr>
          <a:xfrm>
            <a:off x="8940258" y="5987626"/>
            <a:ext cx="7061742" cy="3903505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: багетная рамка 10">
            <a:extLst>
              <a:ext uri="{FF2B5EF4-FFF2-40B4-BE49-F238E27FC236}">
                <a16:creationId xmlns:a16="http://schemas.microsoft.com/office/drawing/2014/main" id="{68715057-BCBF-4AB6-99D6-2EAF5A28A86F}"/>
              </a:ext>
            </a:extLst>
          </p:cNvPr>
          <p:cNvSpPr/>
          <p:nvPr/>
        </p:nvSpPr>
        <p:spPr>
          <a:xfrm>
            <a:off x="11348224" y="704566"/>
            <a:ext cx="6611976" cy="3166947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: багетная рамка 9">
            <a:extLst>
              <a:ext uri="{FF2B5EF4-FFF2-40B4-BE49-F238E27FC236}">
                <a16:creationId xmlns:a16="http://schemas.microsoft.com/office/drawing/2014/main" id="{DD227EDD-B6AD-4797-9320-27981C31D96E}"/>
              </a:ext>
            </a:extLst>
          </p:cNvPr>
          <p:cNvSpPr/>
          <p:nvPr/>
        </p:nvSpPr>
        <p:spPr>
          <a:xfrm>
            <a:off x="714375" y="1895707"/>
            <a:ext cx="6611976" cy="3166947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3" name="-"/>
          <p:cNvSpPr/>
          <p:nvPr/>
        </p:nvSpPr>
        <p:spPr>
          <a:xfrm>
            <a:off x="714375" y="714375"/>
            <a:ext cx="146018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rtl="0"/>
            <a:r>
              <a:rPr lang="ru-RU" sz="3200" b="1" i="0" u="none" strike="noStrike" dirty="0">
                <a:effectLst/>
                <a:latin typeface="+mj-lt"/>
              </a:rPr>
              <a:t>Актуальность и проблема</a:t>
            </a:r>
          </a:p>
        </p:txBody>
      </p:sp>
      <p:sp>
        <p:nvSpPr>
          <p:cNvPr id="4" name="600"/>
          <p:cNvSpPr/>
          <p:nvPr/>
        </p:nvSpPr>
        <p:spPr>
          <a:xfrm>
            <a:off x="1218274" y="2288040"/>
            <a:ext cx="4438651" cy="105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500"/>
              </a:lnSpc>
              <a:buNone/>
            </a:pPr>
            <a:r>
              <a:rPr lang="ru-RU" sz="2400" dirty="0">
                <a:solidFill>
                  <a:schemeClr val="bg1"/>
                </a:solidFill>
                <a:ea typeface="Nunito Sans Bold" pitchFamily="34" charset="-122"/>
                <a:cs typeface="Nunito Sans Bold" pitchFamily="34" charset="-120"/>
              </a:rPr>
              <a:t>Проблема</a:t>
            </a:r>
          </a:p>
          <a:p>
            <a:pPr>
              <a:lnSpc>
                <a:spcPct val="112500"/>
              </a:lnSpc>
            </a:pPr>
            <a:r>
              <a:rPr lang="ru-RU" sz="2400" dirty="0">
                <a:solidFill>
                  <a:srgbClr val="E1E3E6"/>
                </a:solidFill>
              </a:rPr>
              <a:t>Пользователи часто создают простые пароли, которые легко взломать. Это ведёт к утечке данных и взлому аккаунтов</a:t>
            </a:r>
            <a:r>
              <a:rPr lang="ru-RU" sz="2400" dirty="0">
                <a:solidFill>
                  <a:srgbClr val="E1E3E6"/>
                </a:solidFill>
                <a:latin typeface="-apple-system"/>
              </a:rPr>
              <a:t>.</a:t>
            </a:r>
            <a:br>
              <a:rPr lang="ru-RU" sz="2400" dirty="0">
                <a:solidFill>
                  <a:srgbClr val="000000"/>
                </a:solidFill>
                <a:ea typeface="Nunito Sans Bold" pitchFamily="34" charset="-122"/>
                <a:cs typeface="Nunito Sans Bold" pitchFamily="34" charset="-120"/>
              </a:rPr>
            </a:b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F2C147-8903-4FF7-9DF0-1E8A17B59F21}"/>
              </a:ext>
            </a:extLst>
          </p:cNvPr>
          <p:cNvSpPr txBox="1"/>
          <p:nvPr/>
        </p:nvSpPr>
        <p:spPr>
          <a:xfrm>
            <a:off x="11842595" y="1333500"/>
            <a:ext cx="5597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Аудитория</a:t>
            </a:r>
          </a:p>
          <a:p>
            <a:r>
              <a:rPr lang="ru-RU" sz="2400" dirty="0">
                <a:solidFill>
                  <a:srgbClr val="E1E3E6"/>
                </a:solidFill>
              </a:rPr>
              <a:t>Обычные пользователи ПК, сотрудники компаний, системные администраторы.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09633B-E4CC-4DFA-9738-DFC1F07B721A}"/>
              </a:ext>
            </a:extLst>
          </p:cNvPr>
          <p:cNvSpPr txBox="1"/>
          <p:nvPr/>
        </p:nvSpPr>
        <p:spPr>
          <a:xfrm>
            <a:off x="9478537" y="6606752"/>
            <a:ext cx="5486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Основная идея</a:t>
            </a:r>
          </a:p>
          <a:p>
            <a:r>
              <a:rPr lang="ru-RU" sz="2400" dirty="0">
                <a:solidFill>
                  <a:srgbClr val="E1E3E6"/>
                </a:solidFill>
              </a:rPr>
              <a:t>Разработать программу, которая автоматически оценивает сложность пароля по нескольким критериям (длина, заглавные буквы, цифры, спецсимволы) и выдаёт понятный результат с рекомендациями.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296400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3" name="default_name"/>
          <p:cNvSpPr/>
          <p:nvPr/>
        </p:nvSpPr>
        <p:spPr>
          <a:xfrm>
            <a:off x="714375" y="714375"/>
            <a:ext cx="56430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latin typeface="+mj-lt"/>
              </a:rPr>
              <a:t>USE-CASE </a:t>
            </a:r>
            <a:r>
              <a:rPr lang="ru-RU" sz="3000" b="1" dirty="0">
                <a:latin typeface="+mj-lt"/>
              </a:rPr>
              <a:t>диаграмма</a:t>
            </a:r>
            <a:endParaRPr lang="en-US" sz="3000" b="1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47750" y="2062162"/>
            <a:ext cx="7576705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>
              <a:lnSpc>
                <a:spcPct val="125000"/>
              </a:lnSpc>
            </a:pPr>
            <a:endParaRPr lang="ru-RU" sz="2400" dirty="0">
              <a:solidFill>
                <a:srgbClr val="000000"/>
              </a:solidFill>
              <a:ea typeface="Nunito Sans SemiBold" pitchFamily="34" charset="-122"/>
              <a:cs typeface="Nunito Sans SemiBold" pitchFamily="34" charset="-12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C1CBAC-2106-40C8-A0AF-700681340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198" y="3013656"/>
            <a:ext cx="14339604" cy="3134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fault_name"/>
          <p:cNvSpPr/>
          <p:nvPr/>
        </p:nvSpPr>
        <p:spPr>
          <a:xfrm>
            <a:off x="714375" y="714375"/>
            <a:ext cx="56430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200" b="1" dirty="0">
                <a:solidFill>
                  <a:srgbClr val="FFFFFF"/>
                </a:solidFill>
                <a:latin typeface="+mj-lt"/>
                <a:ea typeface="Nunito ExtraBold" pitchFamily="34" charset="-122"/>
                <a:cs typeface="Nunito ExtraBold" pitchFamily="34" charset="-120"/>
              </a:rPr>
              <a:t>Блок-схема</a:t>
            </a:r>
            <a:endParaRPr lang="en-US" sz="3200" b="1" dirty="0">
              <a:latin typeface="+mj-l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0BEEE9D-5249-4E62-AE44-B2A5F393A1B8}"/>
              </a:ext>
            </a:extLst>
          </p:cNvPr>
          <p:cNvSpPr/>
          <p:nvPr/>
        </p:nvSpPr>
        <p:spPr>
          <a:xfrm>
            <a:off x="1047749" y="2295525"/>
            <a:ext cx="7660821" cy="536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2400" dirty="0"/>
          </a:p>
        </p:txBody>
      </p:sp>
      <p:pic>
        <p:nvPicPr>
          <p:cNvPr id="9" name="Black_pixel_logoFTC.png" descr="preencoded.png">
            <a:extLst>
              <a:ext uri="{FF2B5EF4-FFF2-40B4-BE49-F238E27FC236}">
                <a16:creationId xmlns:a16="http://schemas.microsoft.com/office/drawing/2014/main" id="{EF94D2AA-512F-4D97-987D-035929ADCD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296400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EBED5C-784F-4D4A-940F-C0184D497C84}"/>
              </a:ext>
            </a:extLst>
          </p:cNvPr>
          <p:cNvSpPr txBox="1"/>
          <p:nvPr/>
        </p:nvSpPr>
        <p:spPr>
          <a:xfrm>
            <a:off x="345686" y="385669"/>
            <a:ext cx="46389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/>
              <a:t>Блок-схема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5ED3BB-1F02-4702-AE8B-CBA61AEE6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235" y="2623457"/>
            <a:ext cx="10736036" cy="53680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13828210" y="170059"/>
            <a:ext cx="4203313" cy="64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000" b="1" dirty="0">
                <a:solidFill>
                  <a:srgbClr val="000000"/>
                </a:solidFill>
                <a:latin typeface="+mj-lt"/>
                <a:ea typeface="Nunito ExtraBold" pitchFamily="34" charset="-122"/>
                <a:cs typeface="Nunito ExtraBold" pitchFamily="34" charset="-120"/>
              </a:rPr>
              <a:t>Внешний вид программы</a:t>
            </a:r>
            <a:endParaRPr lang="en-US" sz="3000" b="1" dirty="0">
              <a:latin typeface="+mj-lt"/>
            </a:endParaRPr>
          </a:p>
        </p:txBody>
      </p:sp>
      <p:pic>
        <p:nvPicPr>
          <p:cNvPr id="17" name="Black_pixel_logoFTC.png" descr="preencoded.png">
            <a:extLst>
              <a:ext uri="{FF2B5EF4-FFF2-40B4-BE49-F238E27FC236}">
                <a16:creationId xmlns:a16="http://schemas.microsoft.com/office/drawing/2014/main" id="{6958D8BB-5B2B-4B69-AC87-AEA55C040C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6384" y="9388165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C8074B2-E563-4DF7-8336-A92945CF6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643" y="3918561"/>
            <a:ext cx="6685621" cy="4465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F767DE-AB20-458A-B26C-7A74E6D10A7F}"/>
              </a:ext>
            </a:extLst>
          </p:cNvPr>
          <p:cNvSpPr txBox="1"/>
          <p:nvPr/>
        </p:nvSpPr>
        <p:spPr>
          <a:xfrm>
            <a:off x="881643" y="3282923"/>
            <a:ext cx="6230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Главное окно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A93CD-6E70-4D6F-8EB7-613DA776ECD6}"/>
              </a:ext>
            </a:extLst>
          </p:cNvPr>
          <p:cNvSpPr txBox="1"/>
          <p:nvPr/>
        </p:nvSpPr>
        <p:spPr>
          <a:xfrm>
            <a:off x="10485399" y="3313033"/>
            <a:ext cx="6775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Тест программы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E6CC437-A998-4C96-B558-A9AC6893F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5334" y="3918561"/>
            <a:ext cx="6813537" cy="460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4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401175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4" name="default_name"/>
          <p:cNvSpPr/>
          <p:nvPr/>
        </p:nvSpPr>
        <p:spPr>
          <a:xfrm>
            <a:off x="714374" y="714375"/>
            <a:ext cx="1120490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200" b="1" dirty="0">
                <a:solidFill>
                  <a:srgbClr val="000000"/>
                </a:solidFill>
                <a:latin typeface="+mj-lt"/>
                <a:ea typeface="Nunito ExtraBold" pitchFamily="34" charset="-122"/>
                <a:cs typeface="Arial" panose="020B0604020202020204" pitchFamily="34" charset="0"/>
              </a:rPr>
              <a:t>Внешний вид программы, демонстрация работы программы </a:t>
            </a:r>
            <a:endParaRPr lang="en-US" sz="3200" b="1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B4FDB7-760B-4B74-AC3A-D8527788E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864" y="8197773"/>
            <a:ext cx="12065512" cy="1374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AFACA0-45B9-4302-93C4-786BD1CA49AC}"/>
              </a:ext>
            </a:extLst>
          </p:cNvPr>
          <p:cNvSpPr txBox="1"/>
          <p:nvPr/>
        </p:nvSpPr>
        <p:spPr>
          <a:xfrm>
            <a:off x="5956548" y="7555248"/>
            <a:ext cx="1178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Лог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A14E654-35E0-41E7-AA08-4214F6EFA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20" y="1950842"/>
            <a:ext cx="7266414" cy="4901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FAC682-21EA-4BA2-96C3-1E42FE857F3D}"/>
              </a:ext>
            </a:extLst>
          </p:cNvPr>
          <p:cNvSpPr txBox="1"/>
          <p:nvPr/>
        </p:nvSpPr>
        <p:spPr>
          <a:xfrm>
            <a:off x="8106936" y="2222634"/>
            <a:ext cx="637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Ввод пароля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6C5D080-1238-4BDF-DCB2-15FB600AD073}"/>
              </a:ext>
            </a:extLst>
          </p:cNvPr>
          <p:cNvSpPr/>
          <p:nvPr/>
        </p:nvSpPr>
        <p:spPr>
          <a:xfrm>
            <a:off x="12831580" y="2018393"/>
            <a:ext cx="5321509" cy="6045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F0BF5A-42C5-4795-43FA-171110BE24DD}"/>
              </a:ext>
            </a:extLst>
          </p:cNvPr>
          <p:cNvSpPr/>
          <p:nvPr/>
        </p:nvSpPr>
        <p:spPr>
          <a:xfrm>
            <a:off x="6468744" y="2018392"/>
            <a:ext cx="5321509" cy="4646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B0A75E1-F443-73F4-ECDD-EDC44662D769}"/>
              </a:ext>
            </a:extLst>
          </p:cNvPr>
          <p:cNvSpPr/>
          <p:nvPr/>
        </p:nvSpPr>
        <p:spPr>
          <a:xfrm>
            <a:off x="1007403" y="2093245"/>
            <a:ext cx="4112074" cy="4997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default_name"/>
          <p:cNvSpPr/>
          <p:nvPr/>
        </p:nvSpPr>
        <p:spPr>
          <a:xfrm>
            <a:off x="13055789" y="2018392"/>
            <a:ext cx="49560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ru-RU" sz="2400" dirty="0">
                <a:solidFill>
                  <a:schemeClr val="bg1">
                    <a:lumMod val="95000"/>
                  </a:schemeClr>
                </a:solidFill>
                <a:ea typeface="Nunito Bold" pitchFamily="34" charset="-122"/>
              </a:rPr>
              <a:t>Что сделано</a:t>
            </a:r>
          </a:p>
          <a:p>
            <a:pPr>
              <a:lnSpc>
                <a:spcPct val="125000"/>
              </a:lnSpc>
            </a:pP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· Разработана программа с графическим интерфейсом (поле ввода пароля со звёздочками, кнопка проверки, вывод результата и замечаний).</a:t>
            </a:r>
            <a:br>
              <a:rPr lang="ru-RU" sz="2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· Реализована система оценки надёжности по длине, заглавным буквам, цифрам и спецсимволам.</a:t>
            </a:r>
            <a:br>
              <a:rPr lang="ru-RU" sz="2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· Организован цикл: при ненадёжном пароле программа не завершается, а остаётся в режиме ожидания нового ввода.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007403" y="3417659"/>
            <a:ext cx="4112074" cy="450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ru-RU" sz="2200" dirty="0">
              <a:solidFill>
                <a:srgbClr val="000000"/>
              </a:solidFill>
              <a:ea typeface="Nunito Sans Medium" pitchFamily="34" charset="-122"/>
              <a:cs typeface="Nunito Sans Medium" pitchFamily="34" charset="-120"/>
            </a:endParaRPr>
          </a:p>
        </p:txBody>
      </p:sp>
      <p:sp>
        <p:nvSpPr>
          <p:cNvPr id="11" name="default_name"/>
          <p:cNvSpPr/>
          <p:nvPr/>
        </p:nvSpPr>
        <p:spPr>
          <a:xfrm>
            <a:off x="714375" y="714375"/>
            <a:ext cx="564308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200" b="1" dirty="0">
                <a:solidFill>
                  <a:srgbClr val="000000"/>
                </a:solidFill>
                <a:latin typeface="+mj-lt"/>
                <a:ea typeface="Nunito ExtraBold" pitchFamily="34" charset="-122"/>
                <a:cs typeface="Nunito ExtraBold" pitchFamily="34" charset="-120"/>
              </a:rPr>
              <a:t>ЗАКЛЮЧЕНИЕ</a:t>
            </a:r>
            <a:endParaRPr lang="en-US" sz="3200" b="1" dirty="0">
              <a:latin typeface="+mj-lt"/>
            </a:endParaRPr>
          </a:p>
        </p:txBody>
      </p:sp>
      <p:sp>
        <p:nvSpPr>
          <p:cNvPr id="16" name="default_name">
            <a:extLst>
              <a:ext uri="{FF2B5EF4-FFF2-40B4-BE49-F238E27FC236}">
                <a16:creationId xmlns:a16="http://schemas.microsoft.com/office/drawing/2014/main" id="{89A2F597-B6F1-4776-8B88-8DEE5D3C2803}"/>
              </a:ext>
            </a:extLst>
          </p:cNvPr>
          <p:cNvSpPr/>
          <p:nvPr/>
        </p:nvSpPr>
        <p:spPr>
          <a:xfrm>
            <a:off x="6665970" y="2109560"/>
            <a:ext cx="4956060" cy="96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ru-RU" sz="2600" dirty="0">
                <a:solidFill>
                  <a:srgbClr val="FFFFFF"/>
                </a:solidFill>
                <a:ea typeface="Nunito Bold" pitchFamily="34" charset="-122"/>
                <a:cs typeface="Nunito Bold" pitchFamily="34" charset="-120"/>
              </a:rPr>
              <a:t>Какие навыки приобретены</a:t>
            </a:r>
            <a:r>
              <a:rPr lang="en-US" sz="2600" dirty="0">
                <a:solidFill>
                  <a:srgbClr val="FFFFFF"/>
                </a:solidFill>
                <a:ea typeface="Nunito Bold" pitchFamily="34" charset="-122"/>
                <a:cs typeface="Nunito Bold" pitchFamily="34" charset="-120"/>
              </a:rPr>
              <a:t>:</a:t>
            </a:r>
            <a:endParaRPr lang="ru-RU" sz="2600" dirty="0">
              <a:solidFill>
                <a:srgbClr val="FFFFFF"/>
              </a:solidFill>
              <a:ea typeface="Nunito Bold" pitchFamily="34" charset="-122"/>
              <a:cs typeface="Nunito Bold" pitchFamily="34" charset="-120"/>
            </a:endParaRPr>
          </a:p>
          <a:p>
            <a:pPr>
              <a:lnSpc>
                <a:spcPct val="125000"/>
              </a:lnSpc>
            </a:pPr>
            <a:r>
              <a:rPr lang="ru-RU" sz="2600" dirty="0">
                <a:solidFill>
                  <a:srgbClr val="FFFFFF"/>
                </a:solidFill>
              </a:rPr>
              <a:t>· Создание графического интерфейса на Python (обработка событий, поля ввода, кнопки, вывод текста).</a:t>
            </a:r>
            <a:br>
              <a:rPr lang="ru-RU" sz="2600" dirty="0">
                <a:solidFill>
                  <a:srgbClr val="FFFFFF"/>
                </a:solidFill>
              </a:rPr>
            </a:br>
            <a:r>
              <a:rPr lang="ru-RU" sz="2600" dirty="0">
                <a:solidFill>
                  <a:srgbClr val="FFFFFF"/>
                </a:solidFill>
              </a:rPr>
              <a:t>· Логирование событий программы с записью в файл.</a:t>
            </a:r>
            <a:br>
              <a:rPr lang="ru-RU" sz="2600" dirty="0">
                <a:solidFill>
                  <a:srgbClr val="FFFFFF"/>
                </a:solidFill>
              </a:rPr>
            </a:br>
            <a:r>
              <a:rPr lang="ru-RU" sz="2600" dirty="0">
                <a:solidFill>
                  <a:srgbClr val="FFFFFF"/>
                </a:solidFill>
              </a:rPr>
              <a:t>· Построение блок-схем и </a:t>
            </a:r>
            <a:r>
              <a:rPr lang="ru-RU" sz="2600" dirty="0" err="1">
                <a:solidFill>
                  <a:srgbClr val="FFFFFF"/>
                </a:solidFill>
              </a:rPr>
              <a:t>use</a:t>
            </a:r>
            <a:r>
              <a:rPr lang="ru-RU" sz="2600" dirty="0">
                <a:solidFill>
                  <a:srgbClr val="FFFFFF"/>
                </a:solidFill>
              </a:rPr>
              <a:t> </a:t>
            </a:r>
            <a:r>
              <a:rPr lang="ru-RU" sz="2600" dirty="0" err="1">
                <a:solidFill>
                  <a:srgbClr val="FFFFFF"/>
                </a:solidFill>
              </a:rPr>
              <a:t>case</a:t>
            </a:r>
            <a:r>
              <a:rPr lang="ru-RU" sz="2600" dirty="0">
                <a:solidFill>
                  <a:srgbClr val="FFFFFF"/>
                </a:solidFill>
              </a:rPr>
              <a:t> диаграмм для документации.</a:t>
            </a:r>
            <a:endParaRPr lang="en-US" sz="2600" dirty="0">
              <a:solidFill>
                <a:srgbClr val="FFFFFF"/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29CF344-3604-4C13-A41D-D64882ACC1C6}"/>
              </a:ext>
            </a:extLst>
          </p:cNvPr>
          <p:cNvSpPr/>
          <p:nvPr/>
        </p:nvSpPr>
        <p:spPr>
          <a:xfrm>
            <a:off x="7162801" y="3417659"/>
            <a:ext cx="4093028" cy="4646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9" name="default_name">
            <a:extLst>
              <a:ext uri="{FF2B5EF4-FFF2-40B4-BE49-F238E27FC236}">
                <a16:creationId xmlns:a16="http://schemas.microsoft.com/office/drawing/2014/main" id="{B36BA878-CED2-4982-9DDE-950F7C52C364}"/>
              </a:ext>
            </a:extLst>
          </p:cNvPr>
          <p:cNvSpPr/>
          <p:nvPr/>
        </p:nvSpPr>
        <p:spPr>
          <a:xfrm>
            <a:off x="1329134" y="2199262"/>
            <a:ext cx="36075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ru-RU" sz="2600" dirty="0">
                <a:solidFill>
                  <a:schemeClr val="bg1"/>
                </a:solidFill>
                <a:ea typeface="Nunito Bold" pitchFamily="34" charset="-122"/>
                <a:cs typeface="Nunito Bold" pitchFamily="34" charset="-120"/>
              </a:rPr>
              <a:t>Будущие улучшения</a:t>
            </a:r>
            <a:r>
              <a:rPr lang="en-US" sz="2600" dirty="0">
                <a:solidFill>
                  <a:schemeClr val="bg1"/>
                </a:solidFill>
                <a:ea typeface="Nunito Bold" pitchFamily="34" charset="-122"/>
                <a:cs typeface="Nunito Bold" pitchFamily="34" charset="-120"/>
              </a:rPr>
              <a:t>: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EB689089-C2C8-4574-9DD4-69A2C957C5AB}"/>
              </a:ext>
            </a:extLst>
          </p:cNvPr>
          <p:cNvSpPr/>
          <p:nvPr/>
        </p:nvSpPr>
        <p:spPr>
          <a:xfrm>
            <a:off x="13055789" y="3558723"/>
            <a:ext cx="3838840" cy="4823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00000"/>
              </a:solidFill>
              <a:ea typeface="Nunito Sans Medium" pitchFamily="34" charset="-122"/>
              <a:cs typeface="Nunito Sans Medium" pitchFamily="34" charset="-120"/>
            </a:endParaRPr>
          </a:p>
        </p:txBody>
      </p:sp>
      <p:pic>
        <p:nvPicPr>
          <p:cNvPr id="14" name="Black_pixel_logoFTC.png" descr="preencoded.png">
            <a:extLst>
              <a:ext uri="{FF2B5EF4-FFF2-40B4-BE49-F238E27FC236}">
                <a16:creationId xmlns:a16="http://schemas.microsoft.com/office/drawing/2014/main" id="{AD46F733-E415-45B6-85BB-6463BA45A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493474"/>
            <a:ext cx="1543050" cy="552450"/>
          </a:xfrm>
          <a:prstGeom prst="rect">
            <a:avLst/>
          </a:prstGeom>
          <a:solidFill>
            <a:schemeClr val="accent2">
              <a:lumMod val="60000"/>
              <a:lumOff val="40000"/>
              <a:alpha val="59000"/>
            </a:schemeClr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66F1F1-9815-F28A-99E0-195DC05E315E}"/>
              </a:ext>
            </a:extLst>
          </p:cNvPr>
          <p:cNvSpPr txBox="1"/>
          <p:nvPr/>
        </p:nvSpPr>
        <p:spPr>
          <a:xfrm>
            <a:off x="1007403" y="2857940"/>
            <a:ext cx="404564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Добавить чёрный список популярных паролей (123456, </a:t>
            </a:r>
            <a:r>
              <a:rPr kumimoji="0" lang="ru-RU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qwerty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password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  <a:b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Внедрить генератор надёжного пароля с возможностью копирования.</a:t>
            </a:r>
            <a:b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Реализовать индикатор надёжности, меняющий цвет при вводе.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263</Words>
  <Application>Microsoft Office PowerPoint</Application>
  <PresentationFormat>Произвольный</PresentationFormat>
  <Paragraphs>39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-apple-system</vt:lpstr>
      <vt:lpstr>Arial</vt:lpstr>
      <vt:lpstr>Calibri</vt:lpstr>
      <vt:lpstr>Nunito Bold</vt:lpstr>
      <vt:lpstr>Nunito Sans Bold</vt:lpstr>
      <vt:lpstr>Nunito Sans Medium</vt:lpstr>
      <vt:lpstr>Nunito Sans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36</cp:revision>
  <dcterms:created xsi:type="dcterms:W3CDTF">2025-10-16T18:17:35Z</dcterms:created>
  <dcterms:modified xsi:type="dcterms:W3CDTF">2026-04-20T15:32:11Z</dcterms:modified>
</cp:coreProperties>
</file>