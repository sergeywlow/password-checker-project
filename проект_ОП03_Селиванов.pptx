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1" r:id="rId3"/>
    <p:sldId id="264" r:id="rId4"/>
    <p:sldId id="266" r:id="rId5"/>
    <p:sldId id="318" r:id="rId6"/>
    <p:sldId id="274" r:id="rId7"/>
    <p:sldId id="286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286FE5"/>
    <a:srgbClr val="8C8C8C"/>
    <a:srgbClr val="A5A5A5"/>
    <a:srgbClr val="3E719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6" autoAdjust="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40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4" name="Text 0"/>
          <p:cNvSpPr/>
          <p:nvPr/>
        </p:nvSpPr>
        <p:spPr>
          <a:xfrm>
            <a:off x="10226804" y="3323566"/>
            <a:ext cx="7896225" cy="484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ИНДИВИДУАЛЬНЫЙ ПРОЕКТ ПО ТЕМЕ «ПРОГРАММА ПО ПРОВЕРКЕ ПАРОЛЯ»</a:t>
            </a: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ВЫПОЛНИЛ: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СТУДЕНТ 2 КУРСА ГРУППЫ ИБ-41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СЕЛИВАНОВ СЕРГЕЙ СЕРГЕЕВИЧ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ПРЕПОДАВАТЕЛЬ: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ЛИПАТНИКОВА НАДЕЖДА МИХАЙЛОВНА</a:t>
            </a:r>
            <a:br>
              <a:rPr lang="ru-RU" sz="3200" b="1" dirty="0">
                <a:latin typeface="+mj-lt"/>
                <a:cs typeface="Arial" panose="020B0604020202020204" pitchFamily="34" charset="0"/>
              </a:rPr>
            </a:br>
            <a:r>
              <a:rPr lang="ru-RU" sz="3200" b="1" dirty="0">
                <a:latin typeface="+mj-lt"/>
                <a:cs typeface="Arial" panose="020B0604020202020204" pitchFamily="34" charset="0"/>
              </a:rPr>
              <a:t>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FA5DE-6D72-EE95-AE32-AC4BDC29210E}"/>
              </a:ext>
            </a:extLst>
          </p:cNvPr>
          <p:cNvSpPr txBox="1"/>
          <p:nvPr/>
        </p:nvSpPr>
        <p:spPr>
          <a:xfrm>
            <a:off x="7060884" y="9456003"/>
            <a:ext cx="2882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Долгопрудный, 2026</a:t>
            </a:r>
            <a:endParaRPr lang="ru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US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6FC98A-95B4-4715-A79C-A4DCBECB3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188720"/>
            <a:ext cx="6784848" cy="6784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багетная рамка 11">
            <a:extLst>
              <a:ext uri="{FF2B5EF4-FFF2-40B4-BE49-F238E27FC236}">
                <a16:creationId xmlns:a16="http://schemas.microsoft.com/office/drawing/2014/main" id="{D365B7A5-E92F-418F-B58D-72F3C821B3DF}"/>
              </a:ext>
            </a:extLst>
          </p:cNvPr>
          <p:cNvSpPr/>
          <p:nvPr/>
        </p:nvSpPr>
        <p:spPr>
          <a:xfrm>
            <a:off x="8940258" y="5987626"/>
            <a:ext cx="7061742" cy="3903505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багетная рамка 10">
            <a:extLst>
              <a:ext uri="{FF2B5EF4-FFF2-40B4-BE49-F238E27FC236}">
                <a16:creationId xmlns:a16="http://schemas.microsoft.com/office/drawing/2014/main" id="{68715057-BCBF-4AB6-99D6-2EAF5A28A86F}"/>
              </a:ext>
            </a:extLst>
          </p:cNvPr>
          <p:cNvSpPr/>
          <p:nvPr/>
        </p:nvSpPr>
        <p:spPr>
          <a:xfrm>
            <a:off x="11348224" y="704566"/>
            <a:ext cx="6611976" cy="3166947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багетная рамка 9">
            <a:extLst>
              <a:ext uri="{FF2B5EF4-FFF2-40B4-BE49-F238E27FC236}">
                <a16:creationId xmlns:a16="http://schemas.microsoft.com/office/drawing/2014/main" id="{DD227EDD-B6AD-4797-9320-27981C31D96E}"/>
              </a:ext>
            </a:extLst>
          </p:cNvPr>
          <p:cNvSpPr/>
          <p:nvPr/>
        </p:nvSpPr>
        <p:spPr>
          <a:xfrm>
            <a:off x="714375" y="1895707"/>
            <a:ext cx="6611976" cy="3166947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3" name="-"/>
          <p:cNvSpPr/>
          <p:nvPr/>
        </p:nvSpPr>
        <p:spPr>
          <a:xfrm>
            <a:off x="714375" y="714375"/>
            <a:ext cx="146018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/>
            <a:r>
              <a:rPr lang="ru-RU" sz="3200" b="1" i="0" u="none" strike="noStrike" dirty="0">
                <a:effectLst/>
                <a:latin typeface="+mj-lt"/>
              </a:rPr>
              <a:t>Актуальность и проблема</a:t>
            </a:r>
          </a:p>
        </p:txBody>
      </p:sp>
      <p:sp>
        <p:nvSpPr>
          <p:cNvPr id="4" name="600"/>
          <p:cNvSpPr/>
          <p:nvPr/>
        </p:nvSpPr>
        <p:spPr>
          <a:xfrm>
            <a:off x="1218274" y="2288040"/>
            <a:ext cx="4438651" cy="105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2400" dirty="0">
                <a:solidFill>
                  <a:schemeClr val="bg1"/>
                </a:solidFill>
                <a:ea typeface="Nunito Sans Bold" pitchFamily="34" charset="-122"/>
                <a:cs typeface="Nunito Sans Bold" pitchFamily="34" charset="-120"/>
              </a:rPr>
              <a:t>Проблема</a:t>
            </a:r>
          </a:p>
          <a:p>
            <a:pPr>
              <a:lnSpc>
                <a:spcPct val="112500"/>
              </a:lnSpc>
            </a:pPr>
            <a:r>
              <a:rPr lang="ru-RU" sz="2400" dirty="0">
                <a:solidFill>
                  <a:srgbClr val="E1E3E6"/>
                </a:solidFill>
              </a:rPr>
              <a:t>Пользователи часто создают простые пароли, которые легко взломать. Это ведёт к утечке данных и взлому аккаунтов</a:t>
            </a:r>
            <a:r>
              <a:rPr lang="ru-RU" sz="2400" dirty="0">
                <a:solidFill>
                  <a:srgbClr val="E1E3E6"/>
                </a:solidFill>
                <a:latin typeface="-apple-system"/>
              </a:rPr>
              <a:t>.</a:t>
            </a:r>
            <a:br>
              <a:rPr lang="ru-RU" sz="2400" dirty="0">
                <a:solidFill>
                  <a:srgbClr val="000000"/>
                </a:solidFill>
                <a:ea typeface="Nunito Sans Bold" pitchFamily="34" charset="-122"/>
                <a:cs typeface="Nunito Sans Bold" pitchFamily="34" charset="-120"/>
              </a:rPr>
            </a:b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2C147-8903-4FF7-9DF0-1E8A17B59F21}"/>
              </a:ext>
            </a:extLst>
          </p:cNvPr>
          <p:cNvSpPr txBox="1"/>
          <p:nvPr/>
        </p:nvSpPr>
        <p:spPr>
          <a:xfrm>
            <a:off x="11842595" y="1333500"/>
            <a:ext cx="5597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Аудитория</a:t>
            </a:r>
          </a:p>
          <a:p>
            <a:r>
              <a:rPr lang="ru-RU" sz="2400" dirty="0">
                <a:solidFill>
                  <a:srgbClr val="E1E3E6"/>
                </a:solidFill>
              </a:rPr>
              <a:t>Обычные пользователи ПК, сотрудники компаний, системные администраторы.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9633B-E4CC-4DFA-9738-DFC1F07B721A}"/>
              </a:ext>
            </a:extLst>
          </p:cNvPr>
          <p:cNvSpPr txBox="1"/>
          <p:nvPr/>
        </p:nvSpPr>
        <p:spPr>
          <a:xfrm>
            <a:off x="9478537" y="6606752"/>
            <a:ext cx="5486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Основная идея</a:t>
            </a:r>
          </a:p>
          <a:p>
            <a:r>
              <a:rPr lang="ru-RU" sz="2400" dirty="0">
                <a:solidFill>
                  <a:srgbClr val="E1E3E6"/>
                </a:solidFill>
              </a:rPr>
              <a:t>Разработать программу, которая автоматически оценивает сложность пароля по нескольким критериям (длина, заглавные буквы, цифры, спецсимволы) и выдаёт понятный результат с рекомендациями.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296400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3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latin typeface="+mj-lt"/>
              </a:rPr>
              <a:t>USE-CASE </a:t>
            </a:r>
            <a:r>
              <a:rPr lang="ru-RU" sz="3000" b="1" dirty="0">
                <a:latin typeface="+mj-lt"/>
              </a:rPr>
              <a:t>диаграмма</a:t>
            </a:r>
            <a:endParaRPr lang="en-US" sz="3000" b="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47750" y="2062162"/>
            <a:ext cx="7576705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ct val="125000"/>
              </a:lnSpc>
            </a:pPr>
            <a:endParaRPr lang="ru-RU" sz="2400" dirty="0">
              <a:solidFill>
                <a:srgbClr val="000000"/>
              </a:solidFill>
              <a:ea typeface="Nunito Sans SemiBold" pitchFamily="34" charset="-122"/>
              <a:cs typeface="Nunito Sans SemiBold" pitchFamily="34" charset="-12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C1CBAC-2106-40C8-A0AF-70068134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746" y="3365931"/>
            <a:ext cx="10901712" cy="2383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E80E31-D8BD-4CAB-B36F-D1198769F3E8}"/>
              </a:ext>
            </a:extLst>
          </p:cNvPr>
          <p:cNvSpPr txBox="1"/>
          <p:nvPr/>
        </p:nvSpPr>
        <p:spPr>
          <a:xfrm>
            <a:off x="446049" y="2062162"/>
            <a:ext cx="60439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· Изображение: диаграмма с актёром «Пользователь» и вариантами использования:</a:t>
            </a:r>
            <a:br>
              <a:rPr lang="ru-RU" sz="2400" dirty="0"/>
            </a:br>
            <a:r>
              <a:rPr lang="ru-RU" sz="2400" dirty="0"/>
              <a:t>· Ввести пароль</a:t>
            </a:r>
            <a:br>
              <a:rPr lang="ru-RU" sz="2400" dirty="0"/>
            </a:br>
            <a:r>
              <a:rPr lang="ru-RU" sz="2400" dirty="0"/>
              <a:t>· Запустить проверку</a:t>
            </a:r>
            <a:br>
              <a:rPr lang="ru-RU" sz="2400" dirty="0"/>
            </a:br>
            <a:r>
              <a:rPr lang="ru-RU" sz="2400" dirty="0"/>
              <a:t>· Просмотреть результат</a:t>
            </a:r>
            <a:br>
              <a:rPr lang="ru-RU" sz="2400" dirty="0"/>
            </a:br>
            <a:r>
              <a:rPr lang="ru-RU" sz="2400" dirty="0"/>
              <a:t>· Получить рекомендации</a:t>
            </a:r>
            <a:br>
              <a:rPr lang="ru-RU" sz="2400" dirty="0"/>
            </a:br>
            <a:r>
              <a:rPr lang="ru-RU" sz="2400" dirty="0"/>
              <a:t>· Пояснение:</a:t>
            </a:r>
            <a:br>
              <a:rPr lang="ru-RU" sz="2400" dirty="0"/>
            </a:br>
            <a:r>
              <a:rPr lang="ru-RU" sz="2400" dirty="0"/>
              <a:t>· Роли: только пользователь.</a:t>
            </a:r>
            <a:br>
              <a:rPr lang="ru-RU" sz="2400" dirty="0"/>
            </a:br>
            <a:r>
              <a:rPr lang="ru-RU" sz="2400" dirty="0"/>
              <a:t>· Основной сценарий: пользователь вводит пароль -</a:t>
            </a:r>
            <a:r>
              <a:rPr lang="en-US" sz="2400" dirty="0"/>
              <a:t>&gt;</a:t>
            </a:r>
            <a:r>
              <a:rPr lang="ru-RU" sz="2400" dirty="0"/>
              <a:t> программа проверяет его </a:t>
            </a:r>
            <a:r>
              <a:rPr lang="en-US" sz="2400" dirty="0"/>
              <a:t>-&gt;</a:t>
            </a:r>
            <a:r>
              <a:rPr lang="ru-RU" sz="2400" dirty="0"/>
              <a:t> выводит уровень надёжности (слабый / средний / надёжный) и список недостатков.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FFFFFF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Блок-схема</a:t>
            </a:r>
            <a:endParaRPr lang="en-US" sz="3200" b="1" dirty="0"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0BEEE9D-5249-4E62-AE44-B2A5F393A1B8}"/>
              </a:ext>
            </a:extLst>
          </p:cNvPr>
          <p:cNvSpPr/>
          <p:nvPr/>
        </p:nvSpPr>
        <p:spPr>
          <a:xfrm>
            <a:off x="1047749" y="2295525"/>
            <a:ext cx="7660821" cy="536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2400" dirty="0"/>
          </a:p>
        </p:txBody>
      </p:sp>
      <p:pic>
        <p:nvPicPr>
          <p:cNvPr id="9" name="Black_pixel_logoFTC.png" descr="preencoded.png">
            <a:extLst>
              <a:ext uri="{FF2B5EF4-FFF2-40B4-BE49-F238E27FC236}">
                <a16:creationId xmlns:a16="http://schemas.microsoft.com/office/drawing/2014/main" id="{EF94D2AA-512F-4D97-987D-035929AD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296400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EBED5C-784F-4D4A-940F-C0184D497C84}"/>
              </a:ext>
            </a:extLst>
          </p:cNvPr>
          <p:cNvSpPr txBox="1"/>
          <p:nvPr/>
        </p:nvSpPr>
        <p:spPr>
          <a:xfrm>
            <a:off x="345686" y="385669"/>
            <a:ext cx="46389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Блок-схема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5ED3BB-1F02-4702-AE8B-CBA61AEE6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025" y="2500711"/>
            <a:ext cx="9915292" cy="49576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3EFDF7-E5FD-4007-9F52-CD2BA3289DA0}"/>
              </a:ext>
            </a:extLst>
          </p:cNvPr>
          <p:cNvSpPr txBox="1"/>
          <p:nvPr/>
        </p:nvSpPr>
        <p:spPr>
          <a:xfrm>
            <a:off x="278780" y="2881342"/>
            <a:ext cx="71590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Пояснение ключевых ветвлений и циклов: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· Ветвление: проверка условия «Пароль надёжный?» — если да, программа завершает работу с положительным результатом; если нет, выполняется другой путь.</a:t>
            </a:r>
            <a:br>
              <a:rPr lang="ru-RU" sz="2400" dirty="0"/>
            </a:br>
            <a:r>
              <a:rPr lang="ru-RU" sz="2400" dirty="0"/>
              <a:t>· Цикл: при ненадёжном пароле программа не завершается, а возвращается к шагу ввода пароля. Цикл повторяется, пока пользователь не введёт пароль, удовлетворяющий критериям надёжности.</a:t>
            </a:r>
            <a:br>
              <a:rPr lang="ru-RU" sz="2400" dirty="0"/>
            </a:br>
            <a:r>
              <a:rPr lang="ru-RU" sz="2400" dirty="0"/>
              <a:t>· Выход из цикла: только после успешной проверки (пароль признан надёжным).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13828210" y="170059"/>
            <a:ext cx="4203313" cy="64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0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Внешний вид программы</a:t>
            </a:r>
            <a:endParaRPr lang="en-US" sz="3000" b="1" dirty="0">
              <a:latin typeface="+mj-lt"/>
            </a:endParaRPr>
          </a:p>
        </p:txBody>
      </p:sp>
      <p:pic>
        <p:nvPicPr>
          <p:cNvPr id="17" name="Black_pixel_logoFTC.png" descr="preencoded.png">
            <a:extLst>
              <a:ext uri="{FF2B5EF4-FFF2-40B4-BE49-F238E27FC236}">
                <a16:creationId xmlns:a16="http://schemas.microsoft.com/office/drawing/2014/main" id="{6958D8BB-5B2B-4B69-AC87-AEA55C040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384" y="938816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8074B2-E563-4DF7-8336-A92945CF6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43" y="3918561"/>
            <a:ext cx="6685621" cy="4465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767DE-AB20-458A-B26C-7A74E6D10A7F}"/>
              </a:ext>
            </a:extLst>
          </p:cNvPr>
          <p:cNvSpPr txBox="1"/>
          <p:nvPr/>
        </p:nvSpPr>
        <p:spPr>
          <a:xfrm>
            <a:off x="881643" y="3282923"/>
            <a:ext cx="623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Главное окно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A93CD-6E70-4D6F-8EB7-613DA776ECD6}"/>
              </a:ext>
            </a:extLst>
          </p:cNvPr>
          <p:cNvSpPr txBox="1"/>
          <p:nvPr/>
        </p:nvSpPr>
        <p:spPr>
          <a:xfrm>
            <a:off x="10485399" y="3313033"/>
            <a:ext cx="6775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Тест программы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E6CC437-A998-4C96-B558-A9AC6893F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34" y="3918561"/>
            <a:ext cx="6813537" cy="460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4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401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4" name="default_name"/>
          <p:cNvSpPr/>
          <p:nvPr/>
        </p:nvSpPr>
        <p:spPr>
          <a:xfrm>
            <a:off x="714374" y="714375"/>
            <a:ext cx="1120490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Arial" panose="020B0604020202020204" pitchFamily="34" charset="0"/>
              </a:rPr>
              <a:t>Внешний вид программы, демонстрация работы программы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B4FDB7-760B-4B74-AC3A-D8527788E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864" y="8197773"/>
            <a:ext cx="12065512" cy="1374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FACA0-45B9-4302-93C4-786BD1CA49AC}"/>
              </a:ext>
            </a:extLst>
          </p:cNvPr>
          <p:cNvSpPr txBox="1"/>
          <p:nvPr/>
        </p:nvSpPr>
        <p:spPr>
          <a:xfrm>
            <a:off x="5956548" y="7555248"/>
            <a:ext cx="1178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Лог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A14E654-35E0-41E7-AA08-4214F6EFA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20" y="1950842"/>
            <a:ext cx="7266414" cy="4901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C682-21EA-4BA2-96C3-1E42FE857F3D}"/>
              </a:ext>
            </a:extLst>
          </p:cNvPr>
          <p:cNvSpPr txBox="1"/>
          <p:nvPr/>
        </p:nvSpPr>
        <p:spPr>
          <a:xfrm>
            <a:off x="8106936" y="2222634"/>
            <a:ext cx="637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Ввод пароля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13055789" y="2018392"/>
            <a:ext cx="49560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Nunito Bold" pitchFamily="34" charset="-122"/>
              </a:rPr>
              <a:t>Что сделано</a:t>
            </a:r>
          </a:p>
          <a:p>
            <a:pPr algn="ctr">
              <a:lnSpc>
                <a:spcPct val="125000"/>
              </a:lnSpc>
            </a:pPr>
            <a:r>
              <a:rPr lang="ru-RU" sz="2400" dirty="0"/>
              <a:t>· Разработана программа с графическим интерфейсом (поле ввода пароля со звёздочками, кнопка проверки, вывод результата и замечаний).</a:t>
            </a:r>
            <a:br>
              <a:rPr lang="ru-RU" sz="2400" dirty="0"/>
            </a:br>
            <a:r>
              <a:rPr lang="ru-RU" sz="2400" dirty="0"/>
              <a:t>· Реализована система оценки надёжности по длине, заглавным буквам, цифрам и спецсимволам.</a:t>
            </a:r>
            <a:br>
              <a:rPr lang="ru-RU" sz="2400" dirty="0"/>
            </a:br>
            <a:r>
              <a:rPr lang="ru-RU" sz="2400" dirty="0"/>
              <a:t>· Организован цикл: при ненадёжном пароле программа не завершается, а остаётся в режиме ожидания нового ввода.</a:t>
            </a:r>
            <a:br>
              <a:rPr lang="ru-RU" sz="2400" dirty="0"/>
            </a:br>
            <a:r>
              <a:rPr lang="ru-RU" sz="2400" dirty="0"/>
              <a:t>· Добавлено логирование каждой проверки в файл с датой, временем, паролем, результатом и недочётами.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07403" y="3417659"/>
            <a:ext cx="4112074" cy="4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2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sp>
        <p:nvSpPr>
          <p:cNvPr id="11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ЗАКЛЮЧЕНИЕ</a:t>
            </a:r>
            <a:endParaRPr lang="en-US" sz="3200" b="1" dirty="0">
              <a:latin typeface="+mj-lt"/>
            </a:endParaRPr>
          </a:p>
        </p:txBody>
      </p:sp>
      <p:sp>
        <p:nvSpPr>
          <p:cNvPr id="16" name="default_name">
            <a:extLst>
              <a:ext uri="{FF2B5EF4-FFF2-40B4-BE49-F238E27FC236}">
                <a16:creationId xmlns:a16="http://schemas.microsoft.com/office/drawing/2014/main" id="{89A2F597-B6F1-4776-8B88-8DEE5D3C2803}"/>
              </a:ext>
            </a:extLst>
          </p:cNvPr>
          <p:cNvSpPr/>
          <p:nvPr/>
        </p:nvSpPr>
        <p:spPr>
          <a:xfrm>
            <a:off x="6982336" y="2018392"/>
            <a:ext cx="4956060" cy="96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Nunito Bold" pitchFamily="34" charset="-122"/>
                <a:cs typeface="Nunito Bold" pitchFamily="34" charset="-120"/>
              </a:rPr>
              <a:t>Какие навыки приобретены</a:t>
            </a:r>
          </a:p>
          <a:p>
            <a:pPr algn="ctr">
              <a:lnSpc>
                <a:spcPct val="125000"/>
              </a:lnSpc>
            </a:pPr>
            <a:r>
              <a:rPr lang="ru-RU" sz="2400" dirty="0"/>
              <a:t>· Создание графического интерфейса на </a:t>
            </a:r>
            <a:r>
              <a:rPr lang="ru-RU" sz="2400" dirty="0" err="1"/>
              <a:t>Python</a:t>
            </a:r>
            <a:r>
              <a:rPr lang="ru-RU" sz="2400" dirty="0"/>
              <a:t> (обработка событий, поля ввода, кнопки, вывод текста).</a:t>
            </a:r>
            <a:br>
              <a:rPr lang="ru-RU" sz="2400" dirty="0"/>
            </a:br>
            <a:r>
              <a:rPr lang="ru-RU" sz="2400" dirty="0"/>
              <a:t>· Логирование событий программы с записью в файл.</a:t>
            </a:r>
            <a:br>
              <a:rPr lang="ru-RU" sz="2400" dirty="0"/>
            </a:br>
            <a:r>
              <a:rPr lang="ru-RU" sz="2400" dirty="0"/>
              <a:t>· Построение блок-схем и </a:t>
            </a:r>
            <a:r>
              <a:rPr lang="ru-RU" sz="2400" dirty="0" err="1"/>
              <a:t>use</a:t>
            </a:r>
            <a:r>
              <a:rPr lang="ru-RU" sz="2400" dirty="0"/>
              <a:t> </a:t>
            </a:r>
            <a:r>
              <a:rPr lang="ru-RU" sz="2400" dirty="0" err="1"/>
              <a:t>case</a:t>
            </a:r>
            <a:r>
              <a:rPr lang="ru-RU" sz="2400" dirty="0"/>
              <a:t> диаграмм для документации.</a:t>
            </a:r>
            <a:endParaRPr lang="en-US" sz="24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29CF344-3604-4C13-A41D-D64882ACC1C6}"/>
              </a:ext>
            </a:extLst>
          </p:cNvPr>
          <p:cNvSpPr/>
          <p:nvPr/>
        </p:nvSpPr>
        <p:spPr>
          <a:xfrm>
            <a:off x="7162801" y="3417659"/>
            <a:ext cx="4093028" cy="4646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9" name="default_name">
            <a:extLst>
              <a:ext uri="{FF2B5EF4-FFF2-40B4-BE49-F238E27FC236}">
                <a16:creationId xmlns:a16="http://schemas.microsoft.com/office/drawing/2014/main" id="{B36BA878-CED2-4982-9DDE-950F7C52C364}"/>
              </a:ext>
            </a:extLst>
          </p:cNvPr>
          <p:cNvSpPr/>
          <p:nvPr/>
        </p:nvSpPr>
        <p:spPr>
          <a:xfrm>
            <a:off x="2257425" y="1904092"/>
            <a:ext cx="36075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Nunito Bold" pitchFamily="34" charset="-122"/>
                <a:cs typeface="Nunito Bold" pitchFamily="34" charset="-120"/>
              </a:rPr>
              <a:t>Будущие улучшения</a:t>
            </a:r>
          </a:p>
          <a:p>
            <a:pPr algn="ctr">
              <a:lnSpc>
                <a:spcPct val="125000"/>
              </a:lnSpc>
            </a:pPr>
            <a:r>
              <a:rPr lang="ru-RU" sz="2400" dirty="0"/>
              <a:t>Добавить чёрный список популярных паролей (123456, </a:t>
            </a:r>
            <a:r>
              <a:rPr lang="ru-RU" sz="2400" dirty="0" err="1"/>
              <a:t>qwerty</a:t>
            </a:r>
            <a:r>
              <a:rPr lang="ru-RU" sz="2400" dirty="0"/>
              <a:t>, </a:t>
            </a:r>
            <a:r>
              <a:rPr lang="ru-RU" sz="2400" dirty="0" err="1"/>
              <a:t>password</a:t>
            </a:r>
            <a:r>
              <a:rPr lang="ru-RU" sz="2400" dirty="0"/>
              <a:t>).</a:t>
            </a:r>
            <a:br>
              <a:rPr lang="ru-RU" sz="2400" dirty="0"/>
            </a:br>
            <a:r>
              <a:rPr lang="ru-RU" sz="2400" dirty="0"/>
              <a:t>· Внедрить генератор надёжного пароля с возможностью копирования.</a:t>
            </a:r>
            <a:br>
              <a:rPr lang="ru-RU" sz="2400" dirty="0"/>
            </a:br>
            <a:r>
              <a:rPr lang="ru-RU" sz="2400" dirty="0"/>
              <a:t>· Реализовать индикатор надёжности, меняющий цвет при вводе.</a:t>
            </a:r>
            <a:endParaRPr lang="en-US" sz="24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B689089-C2C8-4574-9DD4-69A2C957C5AB}"/>
              </a:ext>
            </a:extLst>
          </p:cNvPr>
          <p:cNvSpPr/>
          <p:nvPr/>
        </p:nvSpPr>
        <p:spPr>
          <a:xfrm>
            <a:off x="13055789" y="3558723"/>
            <a:ext cx="3838840" cy="482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pic>
        <p:nvPicPr>
          <p:cNvPr id="14" name="Black_pixel_logoFTC.png" descr="preencoded.png">
            <a:extLst>
              <a:ext uri="{FF2B5EF4-FFF2-40B4-BE49-F238E27FC236}">
                <a16:creationId xmlns:a16="http://schemas.microsoft.com/office/drawing/2014/main" id="{AD46F733-E415-45B6-85BB-6463BA45A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493474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428</Words>
  <Application>Microsoft Office PowerPoint</Application>
  <PresentationFormat>Произвольный</PresentationFormat>
  <Paragraphs>41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Nunito Bold</vt:lpstr>
      <vt:lpstr>Nunito ExtraBold</vt:lpstr>
      <vt:lpstr>Nunito Sans Bold</vt:lpstr>
      <vt:lpstr>Nunito Sans Medium</vt:lpstr>
      <vt:lpstr>Nunito Sans SemiBold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35</cp:revision>
  <dcterms:created xsi:type="dcterms:W3CDTF">2025-10-16T18:17:35Z</dcterms:created>
  <dcterms:modified xsi:type="dcterms:W3CDTF">2026-04-14T12:34:16Z</dcterms:modified>
</cp:coreProperties>
</file>